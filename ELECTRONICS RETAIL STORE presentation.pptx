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65" r:id="rId2"/>
    <p:sldId id="310" r:id="rId3"/>
    <p:sldId id="320" r:id="rId4"/>
    <p:sldId id="321" r:id="rId5"/>
    <p:sldId id="322" r:id="rId6"/>
    <p:sldId id="315" r:id="rId7"/>
    <p:sldId id="316" r:id="rId8"/>
    <p:sldId id="323" r:id="rId9"/>
    <p:sldId id="324" r:id="rId10"/>
  </p:sldIdLst>
  <p:sldSz cx="12188825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F8107C3-66DC-40F6-9CB8-0C552817A1E1}">
          <p14:sldIdLst>
            <p14:sldId id="265"/>
          </p14:sldIdLst>
        </p14:section>
        <p14:section name="Untitled Section" id="{98534573-DDC6-498E-B37B-2ABBCC405E0F}">
          <p14:sldIdLst>
            <p14:sldId id="310"/>
            <p14:sldId id="320"/>
            <p14:sldId id="321"/>
            <p14:sldId id="322"/>
            <p14:sldId id="315"/>
            <p14:sldId id="316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29" autoAdjust="0"/>
  </p:normalViewPr>
  <p:slideViewPr>
    <p:cSldViewPr showGuides="1">
      <p:cViewPr varScale="1">
        <p:scale>
          <a:sx n="63" d="100"/>
          <a:sy n="63" d="100"/>
        </p:scale>
        <p:origin x="804" y="56"/>
      </p:cViewPr>
      <p:guideLst>
        <p:guide pos="3839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5/28/2026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5/28/2026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214" y="1828800"/>
            <a:ext cx="8229600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213" y="4800600"/>
            <a:ext cx="8229600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614" y="2514600"/>
            <a:ext cx="8692399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3" y="5410200"/>
            <a:ext cx="8687333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4781" y="1905001"/>
            <a:ext cx="4419599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29183" y="1905001"/>
            <a:ext cx="441960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1" y="1905000"/>
            <a:ext cx="441655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411" y="2743201"/>
            <a:ext cx="441655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9861" y="1905000"/>
            <a:ext cx="441655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9861" y="2743201"/>
            <a:ext cx="441655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4648200"/>
            <a:ext cx="3581399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1414" y="685800"/>
            <a:ext cx="6400800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4648200"/>
            <a:ext cx="3581399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1414" y="685800"/>
            <a:ext cx="6400799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5/28/2026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2412" y="381001"/>
            <a:ext cx="1524001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412" y="381001"/>
            <a:ext cx="7391399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5/28/2026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1904999"/>
            <a:ext cx="9134391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413" y="6400800"/>
            <a:ext cx="655319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6422" y="6400800"/>
            <a:ext cx="144938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5/28/2026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8211" y="6400800"/>
            <a:ext cx="838201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39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046412" y="838200"/>
            <a:ext cx="7924800" cy="1524000"/>
          </a:xfrm>
        </p:spPr>
        <p:txBody>
          <a:bodyPr anchor="b">
            <a:normAutofit/>
          </a:bodyPr>
          <a:lstStyle/>
          <a:p>
            <a:r>
              <a:rPr lang="en-US" sz="3600" dirty="0"/>
              <a:t>ELECTRONICS RETAIL STORE</a:t>
            </a:r>
          </a:p>
        </p:txBody>
      </p:sp>
      <p:sp>
        <p:nvSpPr>
          <p:cNvPr id="4" name="Subtitle 3"/>
          <p:cNvSpPr>
            <a:spLocks noGrp="1"/>
          </p:cNvSpPr>
          <p:nvPr>
            <p:ph type="body" idx="1"/>
          </p:nvPr>
        </p:nvSpPr>
        <p:spPr>
          <a:xfrm>
            <a:off x="3122612" y="2971800"/>
            <a:ext cx="7163334" cy="2057399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it-IT" dirty="0"/>
              <a:t>REVENUE AND CUSTOMER SEGMENTATION ANALYSIS</a:t>
            </a:r>
          </a:p>
          <a:p>
            <a:pPr>
              <a:spcAft>
                <a:spcPts val="600"/>
              </a:spcAft>
            </a:pPr>
            <a:endParaRPr lang="it-IT" sz="1200" dirty="0"/>
          </a:p>
          <a:p>
            <a:pPr>
              <a:spcAft>
                <a:spcPts val="600"/>
              </a:spcAft>
            </a:pPr>
            <a:r>
              <a:rPr lang="it-IT" sz="900" i="1" dirty="0">
                <a:solidFill>
                  <a:schemeClr val="tx1">
                    <a:lumMod val="95000"/>
                  </a:schemeClr>
                </a:solidFill>
              </a:rPr>
              <a:t>Data cleaned in excel </a:t>
            </a:r>
            <a:r>
              <a:rPr lang="it-IT" sz="900" i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– merged in tableau </a:t>
            </a:r>
            <a:r>
              <a:rPr lang="it-IT" sz="900" i="1" dirty="0"/>
              <a:t>– </a:t>
            </a:r>
            <a:r>
              <a:rPr lang="it-IT" sz="900" i="1" dirty="0">
                <a:solidFill>
                  <a:schemeClr val="accent3">
                    <a:lumMod val="75000"/>
                  </a:schemeClr>
                </a:solidFill>
              </a:rPr>
              <a:t>visualised and analysed in tableau</a:t>
            </a:r>
          </a:p>
          <a:p>
            <a:pPr>
              <a:spcAft>
                <a:spcPts val="600"/>
              </a:spcAft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413" y="559749"/>
            <a:ext cx="9144001" cy="583251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PROJECT METHODOLGY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BDB624-B57F-590C-FAA3-883610C8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212" y="1143000"/>
            <a:ext cx="10744200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1.Data collection</a:t>
            </a:r>
          </a:p>
          <a:p>
            <a:pPr marL="0" indent="0">
              <a:buNone/>
            </a:pPr>
            <a:r>
              <a:rPr lang="en-US" sz="1600" dirty="0"/>
              <a:t>Raw sales, customer, product  &amp; stores loaded into Excel across 5 worksheets</a:t>
            </a:r>
            <a:r>
              <a:rPr lang="en-US" sz="1600" dirty="0">
                <a:solidFill>
                  <a:srgbClr val="64748B"/>
                </a:solidFill>
              </a:rPr>
              <a:t>.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2. Data cleaning in excel</a:t>
            </a:r>
          </a:p>
          <a:p>
            <a:pPr marL="0" indent="0">
              <a:buNone/>
            </a:pPr>
            <a:r>
              <a:rPr lang="en-US" sz="1400" dirty="0"/>
              <a:t>Removed duplicates, fixed date formats, filled missing values, standardized age to  age groups.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3.Data loading in Tableau</a:t>
            </a:r>
          </a:p>
          <a:p>
            <a:pPr marL="0" indent="0">
              <a:buNone/>
            </a:pPr>
            <a:r>
              <a:rPr lang="en-US" sz="1600" dirty="0"/>
              <a:t>Cleaned tables imported into Tableau Desktop as data sources ready for relationship mapping</a:t>
            </a:r>
            <a:r>
              <a:rPr lang="en-US" sz="1600" dirty="0">
                <a:solidFill>
                  <a:srgbClr val="64748B"/>
                </a:solidFill>
              </a:rPr>
              <a:t>.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4.Table merging in tableau</a:t>
            </a:r>
          </a:p>
          <a:p>
            <a:pPr marL="0" indent="0">
              <a:buNone/>
            </a:pPr>
            <a:r>
              <a:rPr lang="en-US" sz="1600" dirty="0"/>
              <a:t>Tables linked via Relationships: Sales↔Customers (Customer Key), </a:t>
            </a:r>
            <a:r>
              <a:rPr lang="en-US" sz="1600" dirty="0" err="1"/>
              <a:t>Sales↔Products</a:t>
            </a:r>
            <a:r>
              <a:rPr lang="en-US" sz="1600" dirty="0"/>
              <a:t> (Product Key), </a:t>
            </a:r>
            <a:r>
              <a:rPr lang="en-US" sz="1600" dirty="0" err="1"/>
              <a:t>Sales↔Stores</a:t>
            </a:r>
            <a:r>
              <a:rPr lang="en-US" sz="1600" dirty="0"/>
              <a:t> (Store Key).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5. Calculated Fields</a:t>
            </a:r>
          </a:p>
          <a:p>
            <a:pPr marL="0" indent="0">
              <a:buNone/>
            </a:pPr>
            <a:r>
              <a:rPr lang="en-US" sz="1600" dirty="0"/>
              <a:t>Revenue, Profit, RFM Scores, Average order per customer, Average purchase per customer— built as Tableau calculated fields.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6. Dashboard build</a:t>
            </a:r>
          </a:p>
          <a:p>
            <a:pPr marL="0" indent="0">
              <a:buNone/>
            </a:pPr>
            <a:r>
              <a:rPr lang="en-US" sz="1600" dirty="0"/>
              <a:t>Two dashboards: Revenue and Profitability Dashboard + Customer Segmentation Dashboard with Parameters &amp; Sets.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4070E-EFEF-640F-F8F9-88B7B321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304800"/>
            <a:ext cx="9144001" cy="13716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DATA SET STRUCTURE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E4B1E3-178C-7BCE-9E0B-7C97F7F091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7933701"/>
              </p:ext>
            </p:extLst>
          </p:nvPr>
        </p:nvGraphicFramePr>
        <p:xfrm>
          <a:off x="1522413" y="1905000"/>
          <a:ext cx="9134472" cy="373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618">
                  <a:extLst>
                    <a:ext uri="{9D8B030D-6E8A-4147-A177-3AD203B41FA5}">
                      <a16:colId xmlns:a16="http://schemas.microsoft.com/office/drawing/2014/main" val="2466821700"/>
                    </a:ext>
                  </a:extLst>
                </a:gridCol>
                <a:gridCol w="2283618">
                  <a:extLst>
                    <a:ext uri="{9D8B030D-6E8A-4147-A177-3AD203B41FA5}">
                      <a16:colId xmlns:a16="http://schemas.microsoft.com/office/drawing/2014/main" val="411620990"/>
                    </a:ext>
                  </a:extLst>
                </a:gridCol>
                <a:gridCol w="2283618">
                  <a:extLst>
                    <a:ext uri="{9D8B030D-6E8A-4147-A177-3AD203B41FA5}">
                      <a16:colId xmlns:a16="http://schemas.microsoft.com/office/drawing/2014/main" val="3322313045"/>
                    </a:ext>
                  </a:extLst>
                </a:gridCol>
                <a:gridCol w="2283618">
                  <a:extLst>
                    <a:ext uri="{9D8B030D-6E8A-4147-A177-3AD203B41FA5}">
                      <a16:colId xmlns:a16="http://schemas.microsoft.com/office/drawing/2014/main" val="2830136221"/>
                    </a:ext>
                  </a:extLst>
                </a:gridCol>
              </a:tblGrid>
              <a:tr h="610668">
                <a:tc>
                  <a:txBody>
                    <a:bodyPr/>
                    <a:lstStyle/>
                    <a:p>
                      <a:r>
                        <a:rPr lang="en-US" sz="1400" dirty="0"/>
                        <a:t>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KEY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816614"/>
                  </a:ext>
                </a:extLst>
              </a:tr>
              <a:tr h="732802">
                <a:tc>
                  <a:txBody>
                    <a:bodyPr/>
                    <a:lstStyle/>
                    <a:p>
                      <a:r>
                        <a:rPr lang="en-US" sz="1400" dirty="0"/>
                        <a:t>Products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2517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Product Key, Brand, Category,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Product catalogue with prices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385163"/>
                  </a:ext>
                </a:extLst>
              </a:tr>
              <a:tr h="1046860">
                <a:tc>
                  <a:txBody>
                    <a:bodyPr/>
                    <a:lstStyle/>
                    <a:p>
                      <a:r>
                        <a:rPr lang="en-US" sz="1400" dirty="0"/>
                        <a:t>Customers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11887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Customer Key, Agegroup, Country, Continent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Customer Demographics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416443"/>
                  </a:ext>
                </a:extLst>
              </a:tr>
              <a:tr h="732802">
                <a:tc>
                  <a:txBody>
                    <a:bodyPr/>
                    <a:lstStyle/>
                    <a:p>
                      <a:r>
                        <a:rPr lang="en-US" sz="1400" dirty="0"/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62884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Order No, Customer Key, Product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Transaction level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2195780"/>
                  </a:ext>
                </a:extLst>
              </a:tr>
              <a:tr h="610668">
                <a:tc>
                  <a:txBody>
                    <a:bodyPr/>
                    <a:lstStyle/>
                    <a:p>
                      <a:r>
                        <a:rPr lang="en-US" sz="1400" dirty="0"/>
                        <a:t>Stores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Store Key, 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Physical Store locations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0879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8973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EC781-1488-D008-D4DB-366ED68AA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3" y="1219200"/>
            <a:ext cx="3596607" cy="1371600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REVENUE AND PROFITABILTY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3F768-3CC3-01A0-45CF-8DB7BFC1B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1412" y="2743200"/>
            <a:ext cx="3581399" cy="762000"/>
          </a:xfrm>
        </p:spPr>
        <p:txBody>
          <a:bodyPr/>
          <a:lstStyle/>
          <a:p>
            <a:r>
              <a:rPr lang="en-US" i="1" dirty="0">
                <a:solidFill>
                  <a:schemeClr val="bg2">
                    <a:lumMod val="50000"/>
                    <a:lumOff val="50000"/>
                  </a:schemeClr>
                </a:solidFill>
              </a:rPr>
              <a:t>KEY FINDINGS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09CFF-F57A-6754-7D6C-7D3CDFBB1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1412" y="1219200"/>
            <a:ext cx="6400800" cy="4114800"/>
          </a:xfrm>
        </p:spPr>
        <p:txBody>
          <a:bodyPr>
            <a:normAutofit/>
          </a:bodyPr>
          <a:lstStyle/>
          <a:p>
            <a:r>
              <a:rPr lang="en-US" sz="1400" dirty="0"/>
              <a:t>Revenue grew strongly from 2016 to 2019 peaking at and there was also a sharp decline in 2020-2021 which was consistent with pandemic driven retail disruptions</a:t>
            </a:r>
          </a:p>
          <a:p>
            <a:r>
              <a:rPr lang="en-US" sz="1400" dirty="0"/>
              <a:t>Computers is the largest category both in revenue and profit.</a:t>
            </a:r>
          </a:p>
          <a:p>
            <a:r>
              <a:rPr lang="en-US" sz="1400" dirty="0"/>
              <a:t>The united states is by far the largest market contributing to almost half of the revenue</a:t>
            </a:r>
          </a:p>
          <a:p>
            <a:r>
              <a:rPr lang="en-US" sz="1400" dirty="0"/>
              <a:t>More revenue was obtained from goods bought in store than those bought online, stores contributed  44.34M  while online sales were 11.4M</a:t>
            </a:r>
          </a:p>
        </p:txBody>
      </p:sp>
    </p:spTree>
    <p:extLst>
      <p:ext uri="{BB962C8B-B14F-4D97-AF65-F5344CB8AC3E}">
        <p14:creationId xmlns:p14="http://schemas.microsoft.com/office/powerpoint/2010/main" val="25238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F948-A51A-D040-930B-E966E3049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12" y="40594"/>
            <a:ext cx="9144001" cy="45719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REVENUE AND PROFITABILITY DASHBORD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24EE6B3-6ECB-CE8F-DC3F-2D4EA0F02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497793"/>
            <a:ext cx="12188825" cy="651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29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838200"/>
            <a:ext cx="3967999" cy="16002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CUSTOMER SEGMENTATION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ANALYSIS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A7D2099-B303-A5B4-48AD-4B1914621B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1" y="2819400"/>
            <a:ext cx="3810001" cy="533400"/>
          </a:xfrm>
        </p:spPr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KEY FINDINGS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8085D8-34BD-31AE-4252-234A3203E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The total number of customers  was  11,887 with an average spending of  4.69k USD ,  with an average order of 2 items per customer</a:t>
            </a:r>
          </a:p>
          <a:p>
            <a:r>
              <a:rPr lang="en-US" sz="1400" dirty="0"/>
              <a:t>Senior and Middle-aged customers account for 76.8% revenue suggesting a loyal, higher spending demographic that should be targeted for premium product marketing</a:t>
            </a:r>
          </a:p>
          <a:p>
            <a:r>
              <a:rPr lang="en-US" sz="1400" dirty="0"/>
              <a:t>Revenue is almost evenly split between male and female customers indicating gender neutral appeal of the product range</a:t>
            </a:r>
          </a:p>
          <a:p>
            <a:r>
              <a:rPr lang="en-US" sz="1400" dirty="0"/>
              <a:t>The united states is by far the highest largest market contributing almost half of the revenue with 6885 customers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013" y="76200"/>
            <a:ext cx="10439402" cy="5334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CUSTOMER SEGMANTATION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E4D62A9-53BD-C241-358B-EAF5B20A35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609600"/>
            <a:ext cx="12114211" cy="617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1DB6C-B587-28F8-17C7-56D2BC663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6096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Key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DD315-5AB5-446D-B7D6-C2643E8BB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1143001"/>
            <a:ext cx="9896392" cy="48768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1.</a:t>
            </a:r>
            <a:r>
              <a:rPr lang="en-US" sz="1400" i="1" dirty="0">
                <a:solidFill>
                  <a:schemeClr val="accent1"/>
                </a:solidFill>
              </a:rPr>
              <a:t>Grow the online channel </a:t>
            </a:r>
          </a:p>
          <a:p>
            <a:pPr marL="0" indent="0">
              <a:buNone/>
            </a:pPr>
            <a:r>
              <a:rPr lang="en-US" sz="1400" dirty="0"/>
              <a:t>With only 20.5% of revenue online, investing in e-commerce </a:t>
            </a:r>
            <a:r>
              <a:rPr lang="en-US" sz="1400" dirty="0" err="1"/>
              <a:t>ux</a:t>
            </a:r>
            <a:r>
              <a:rPr lang="en-US" sz="1400" dirty="0"/>
              <a:t>, digital marketing and same day delivery can significantly increase revenue without requiring additional physical stores</a:t>
            </a:r>
          </a:p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2.Expand geographic foot print</a:t>
            </a:r>
          </a:p>
          <a:p>
            <a:pPr marL="0" indent="0">
              <a:buNone/>
            </a:pPr>
            <a:r>
              <a:rPr lang="en-US" sz="1400" dirty="0"/>
              <a:t>Reduce dependency on the US market, Australia and Southern Europe (Italy)show growing demand and offer expansion opportunities</a:t>
            </a:r>
          </a:p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3.Target Senior Segment</a:t>
            </a:r>
          </a:p>
          <a:p>
            <a:pPr marL="0" indent="0">
              <a:buNone/>
            </a:pPr>
            <a:r>
              <a:rPr lang="en-US" sz="1400" dirty="0"/>
              <a:t>Seniors generate more revenue, design dedicated loyalty programs, easier to use product lines and in store assistance program to retain growth </a:t>
            </a:r>
          </a:p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4.Invest in high margin category items</a:t>
            </a:r>
          </a:p>
          <a:p>
            <a:pPr marL="0" indent="0">
              <a:buNone/>
            </a:pPr>
            <a:r>
              <a:rPr lang="en-GB" sz="1400" dirty="0"/>
              <a:t>Cameras &amp;amp; Camcorders (60.1% margin) and TV &amp;amp; Video (59.7% margin) offer superior returns. Allocate more floor space and targeted promotions to these categories</a:t>
            </a:r>
            <a:r>
              <a:rPr lang="en-GB" sz="1400" i="1" dirty="0">
                <a:solidFill>
                  <a:schemeClr val="accent1"/>
                </a:solidFill>
              </a:rPr>
              <a:t>.</a:t>
            </a:r>
            <a:endParaRPr lang="en-US" sz="1400" i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GB" sz="1400" i="1" dirty="0">
                <a:solidFill>
                  <a:schemeClr val="accent1"/>
                </a:solidFill>
              </a:rPr>
              <a:t>5.Post-Pandemic Recovery Strategy</a:t>
            </a:r>
          </a:p>
          <a:p>
            <a:pPr marL="0" indent="0">
              <a:buNone/>
            </a:pPr>
            <a:r>
              <a:rPr lang="en-GB" sz="1400" dirty="0"/>
              <a:t>The sharp revenue decline in 2020-2021 warrants a focused recovery strategy: reactivation campaigns for dormant customers, aggressive pricing for high-demand products like laptops and home electronics (which surged during remote work/study).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1422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D3ED6C-FBCF-2136-903C-F5CCD1D09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680" y="2590799"/>
            <a:ext cx="8692399" cy="13716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E979C8-5F06-62C2-0F6C-002421089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6400800"/>
            <a:ext cx="9525534" cy="381000"/>
          </a:xfrm>
        </p:spPr>
        <p:txBody>
          <a:bodyPr>
            <a:normAutofit/>
          </a:bodyPr>
          <a:lstStyle/>
          <a:p>
            <a:r>
              <a:rPr lang="en-US" sz="1100" i="1" dirty="0"/>
              <a:t>Data analytics capstone project may 2026</a:t>
            </a:r>
          </a:p>
        </p:txBody>
      </p:sp>
    </p:spTree>
    <p:extLst>
      <p:ext uri="{BB962C8B-B14F-4D97-AF65-F5344CB8AC3E}">
        <p14:creationId xmlns:p14="http://schemas.microsoft.com/office/powerpoint/2010/main" val="2106757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4CBF9558-C12D-4F51-9AA3-9D0796951DBC}" vid="{FFC159E6-A134-46E7-B1A0-C306E39FC295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309</TotalTime>
  <Words>585</Words>
  <Application>Microsoft Office PowerPoint</Application>
  <PresentationFormat>Custom</PresentationFormat>
  <Paragraphs>66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Corbel</vt:lpstr>
      <vt:lpstr>Digital Blue Tunnel 16x9</vt:lpstr>
      <vt:lpstr>ELECTRONICS RETAIL STORE</vt:lpstr>
      <vt:lpstr>PROJECT METHODOLGY</vt:lpstr>
      <vt:lpstr>DATA SET STRUCTURE</vt:lpstr>
      <vt:lpstr>REVENUE AND PROFITABILTY ANALYSIS</vt:lpstr>
      <vt:lpstr>REVENUE AND PROFITABILITY DASHBORD</vt:lpstr>
      <vt:lpstr>CUSTOMER SEGMENTATION ANALYSIS</vt:lpstr>
      <vt:lpstr>CUSTOMER SEGMANTATION ANALYSIS</vt:lpstr>
      <vt:lpstr>Key Recommendations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SFLSTORES</dc:creator>
  <cp:lastModifiedBy>mutheumbuta@gmail.com</cp:lastModifiedBy>
  <cp:revision>6</cp:revision>
  <dcterms:created xsi:type="dcterms:W3CDTF">2026-05-28T06:31:27Z</dcterms:created>
  <dcterms:modified xsi:type="dcterms:W3CDTF">2026-05-28T15:36:49Z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